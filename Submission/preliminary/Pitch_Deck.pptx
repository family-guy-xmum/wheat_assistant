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06a42a52f544f2" /><Relationship Type="http://schemas.openxmlformats.org/officeDocument/2006/relationships/extended-properties" Target="/docProps/app.xml" Id="R9fb5c02502094772" /><Relationship Type="http://schemas.openxmlformats.org/officeDocument/2006/relationships/officeDocument" Target="/ppt/presentation.xml" Id="Raa4e2240e7b049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82810af75545d8"/>
  </p:sldMasterIdLst>
  <p:notesMasterIdLst>
    <p:notesMasterId xmlns:r="http://schemas.openxmlformats.org/officeDocument/2006/relationships" r:id="R76d0efed6d894fc2"/>
  </p:notesMasterIdLst>
  <p:sldIdLst>
    <p:sldId xmlns:r="http://schemas.openxmlformats.org/officeDocument/2006/relationships" id="256" r:id="R749e03cd25bb4871"/>
    <p:sldId xmlns:r="http://schemas.openxmlformats.org/officeDocument/2006/relationships" id="257" r:id="Rf1e2e736ecf743de"/>
    <p:sldId xmlns:r="http://schemas.openxmlformats.org/officeDocument/2006/relationships" id="258" r:id="Rcd362bac859044bc"/>
    <p:sldId xmlns:r="http://schemas.openxmlformats.org/officeDocument/2006/relationships" id="259" r:id="Rbcc7868b40704b4b"/>
    <p:sldId xmlns:r="http://schemas.openxmlformats.org/officeDocument/2006/relationships" id="260" r:id="Rd8cc0c3e19bd4594"/>
    <p:sldId xmlns:r="http://schemas.openxmlformats.org/officeDocument/2006/relationships" id="261" r:id="Rc08579bd6fb34f23"/>
    <p:sldId xmlns:r="http://schemas.openxmlformats.org/officeDocument/2006/relationships" id="262" r:id="R70fb6510b2b74882"/>
    <p:sldId xmlns:r="http://schemas.openxmlformats.org/officeDocument/2006/relationships" id="263" r:id="Rd90fd3d85437459d"/>
    <p:sldId xmlns:r="http://schemas.openxmlformats.org/officeDocument/2006/relationships" id="264" r:id="Rd0f10c9d20954122"/>
    <p:sldId xmlns:r="http://schemas.openxmlformats.org/officeDocument/2006/relationships" id="265" r:id="Rb1309ecf1e1347da"/>
    <p:sldId xmlns:r="http://schemas.openxmlformats.org/officeDocument/2006/relationships" id="266" r:id="R175cdcf2703748f0"/>
    <p:sldId xmlns:r="http://schemas.openxmlformats.org/officeDocument/2006/relationships" id="267" r:id="Rd10f328e84fb40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1e7314ae194be9" /><Relationship Type="http://schemas.openxmlformats.org/officeDocument/2006/relationships/slideMaster" Target="/ppt/slideMasters/slideMaster1.xml" Id="R8782810af75545d8" /><Relationship Type="http://schemas.openxmlformats.org/officeDocument/2006/relationships/notesMaster" Target="/ppt/notesMasters/notesMaster1.xml" Id="R76d0efed6d894fc2" /><Relationship Type="http://schemas.openxmlformats.org/officeDocument/2006/relationships/presProps" Target="/ppt/presProps.xml" Id="Rba7e65a395ea4746" /><Relationship Type="http://schemas.openxmlformats.org/officeDocument/2006/relationships/tableStyles" Target="/ppt/tableStyles.xml" Id="R63fff272c8114911" /><Relationship Type="http://schemas.openxmlformats.org/officeDocument/2006/relationships/slide" Target="/ppt/slides/slide1.xml" Id="R749e03cd25bb4871" /><Relationship Type="http://schemas.openxmlformats.org/officeDocument/2006/relationships/slide" Target="/ppt/slides/slide2.xml" Id="Rf1e2e736ecf743de" /><Relationship Type="http://schemas.openxmlformats.org/officeDocument/2006/relationships/slide" Target="/ppt/slides/slide3.xml" Id="Rcd362bac859044bc" /><Relationship Type="http://schemas.openxmlformats.org/officeDocument/2006/relationships/slide" Target="/ppt/slides/slide4.xml" Id="Rbcc7868b40704b4b" /><Relationship Type="http://schemas.openxmlformats.org/officeDocument/2006/relationships/slide" Target="/ppt/slides/slide5.xml" Id="Rd8cc0c3e19bd4594" /><Relationship Type="http://schemas.openxmlformats.org/officeDocument/2006/relationships/slide" Target="/ppt/slides/slide6.xml" Id="Rc08579bd6fb34f23" /><Relationship Type="http://schemas.openxmlformats.org/officeDocument/2006/relationships/slide" Target="/ppt/slides/slide7.xml" Id="R70fb6510b2b74882" /><Relationship Type="http://schemas.openxmlformats.org/officeDocument/2006/relationships/slide" Target="/ppt/slides/slide8.xml" Id="Rd90fd3d85437459d" /><Relationship Type="http://schemas.openxmlformats.org/officeDocument/2006/relationships/slide" Target="/ppt/slides/slide9.xml" Id="Rd0f10c9d20954122" /><Relationship Type="http://schemas.openxmlformats.org/officeDocument/2006/relationships/slide" Target="/ppt/slides/slide10.xml" Id="Rb1309ecf1e1347da" /><Relationship Type="http://schemas.openxmlformats.org/officeDocument/2006/relationships/slide" Target="/ppt/slides/slide11.xml" Id="R175cdcf2703748f0" /><Relationship Type="http://schemas.openxmlformats.org/officeDocument/2006/relationships/slide" Target="/ppt/slides/slide12.xml" Id="Rd10f328e84fb40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a8e66b8caf46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e9b10a4fa94709" /><Relationship Type="http://schemas.openxmlformats.org/officeDocument/2006/relationships/notesMaster" Target="/ppt/notesMasters/notesMaster1.xml" Id="R18d7593c2d4643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8e6da237937486b" /><Relationship Type="http://schemas.openxmlformats.org/officeDocument/2006/relationships/notesMaster" Target="/ppt/notesMasters/notesMaster1.xml" Id="R638cf7aa304e40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dab5a415884872" /><Relationship Type="http://schemas.openxmlformats.org/officeDocument/2006/relationships/notesMaster" Target="/ppt/notesMasters/notesMaster1.xml" Id="Rae6b9fec019846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e8a60c37f949ce" /><Relationship Type="http://schemas.openxmlformats.org/officeDocument/2006/relationships/notesMaster" Target="/ppt/notesMasters/notesMaster1.xml" Id="Raf77f8a1026c4a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bfb5fee6b341d7" /><Relationship Type="http://schemas.openxmlformats.org/officeDocument/2006/relationships/notesMaster" Target="/ppt/notesMasters/notesMaster1.xml" Id="R3c5f9e0b969340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f05d12d89e400d" /><Relationship Type="http://schemas.openxmlformats.org/officeDocument/2006/relationships/notesMaster" Target="/ppt/notesMasters/notesMaster1.xml" Id="Rc6b2f6874bc443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d6a5bf693744fb" /><Relationship Type="http://schemas.openxmlformats.org/officeDocument/2006/relationships/notesMaster" Target="/ppt/notesMasters/notesMaster1.xml" Id="Rf1d53603ef884e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59ce920b414916" /><Relationship Type="http://schemas.openxmlformats.org/officeDocument/2006/relationships/notesMaster" Target="/ppt/notesMasters/notesMaster1.xml" Id="R43e4db6116754c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d61eee8a0547cd" /><Relationship Type="http://schemas.openxmlformats.org/officeDocument/2006/relationships/notesMaster" Target="/ppt/notesMasters/notesMaster1.xml" Id="R852bd91abc6a46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fab58f691b471e" /><Relationship Type="http://schemas.openxmlformats.org/officeDocument/2006/relationships/notesMaster" Target="/ppt/notesMasters/notesMaster1.xml" Id="R97c76f14e7b948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d751906a204fc9" /><Relationship Type="http://schemas.openxmlformats.org/officeDocument/2006/relationships/notesMaster" Target="/ppt/notesMasters/notesMaster1.xml" Id="R27fa41cc07c34d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c0c5478dab4c65" /><Relationship Type="http://schemas.openxmlformats.org/officeDocument/2006/relationships/notesMaster" Target="/ppt/notesMasters/notesMaster1.xml" Id="Rf16d0a5c873549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PPT and updated deployment information from the project team.</a:t>
            </a:r>
            <a:br/>
            <a:br/>
            <a:r>
              <a:t>建议用时 20 秒。介绍团队 Family Guy 与项目 Wheat。Wheat 帮助小型批发商整理多渠道订单，生成仓库拣货准备资料。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SDC Preliminary Project Proposal and Technical &amp; Tools Declaration, uploaded 24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30 秒。订单文员或销售内勤每周要筛选订单、统一商品和单位、检查重复，再填仓库模板。仓库人员依赖这些结果，老板承担返工和延误成本。此处是项目定义的业务问题，不声称已经完成真实企业调研。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SDC Preliminary Project Proposal and Technical &amp; Tools Declaration, uploaded 24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30 秒。强调首次确认规则，之后复用。用户不必每次从头描述全部要求。复用时仍检查新输入，未知状态和不明确单位不能直接沿用猜测。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SDC Preliminary Project Proposal and Technical &amp; Tools Declaration, uploaded 24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35 秒。依据技术声明，当前配置为 Agnes API 的 agnes-2.5-flash 模型标识，并没有训练或微调模型。模型接收有限的文件结构摘要和样例，返回受约束的流程。Pydantic 和应用规则验证后，用户确认。程序不执行任意模型生成代码。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SDC Preliminary Project Proposal and Technical &amp; Tools Declaration, uploaded 24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建议录屏 65 秒。切换到真实本地原型，上传三周样例中的第一周文件，展示商品主表与模板。展示实际存在的字段映射、别名或单位规则确认入口，批准并运行。保存流程。若实时模型调用不稳定，明确说明使用已生成的计划或确定性配置，不能将其录成实时 AI 成果。此页是录屏导入，不是产品截图。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SDC Preliminary Project Proposal and Technical &amp; Tools Declaration, uploaded 24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建议录屏 65 秒。展示后续周的新状态。定位受影响原始记录，说明部分发货需要剩余数量依据，不能直接视为未发货。补规则、重跑，再展示后续一周的复用。最后点击一条真实结果追溯至来源，展示异常和导出。若原型不具备某一步，删去相应宣称，不用示意画面冒充实际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SDC Preliminary Project Proposal and Technical &amp; Tools Declaration, uploaded 24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25 秒。导出不只是干净表格，还应让员工查到异常和记录去向。技术声明写明八个工作表，但未列全名称，因此此页按内容类型介绍，不编造工作表名。Orbyte 交接是模拟，并非真实平台集成。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PPT and updated deployment information from the project team.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30 秒。当前原型已部署于 Replit，通过浏览器访问。React 与 TypeScript 前端连接 FastAPI 后端。云端通过 SQLAlchemy 使用 PostgreSQL 保存审批、运行记录、原始文件和导出字节；本地版继续使用 SQLite。可选 AI 规划向 Agnes API 发送有限的结构摘要和样例。文件持久化、重启后保留及多用户隔离仍需验证，不作已完成承诺。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docs/deployment/REPLIT_DEPLOYMENT.md; backend/wheat_assistant/cloud_store.py.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PPT and updated deployment information from the project team.</a:t>
            </a:r>
            <a:br/>
            <a:br/>
            <a:r>
              <a:t>建议用时 30 秒。Replit 为官方赞助资源，参与原型云部署、Status Guard 模块开发和测试，以及部分测试和数据分析。右栏保留开发工具声明和独立预期结果。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SDC Preliminary Project Proposal and Technical &amp; Tools Declaration, uploaded 24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建议用时 30 秒。方案书主线为 SDG 8.2。30 分钟是估计而非实测，30% 为第二阶段目标，不可表述为已经节省。核心指标是人工主动操作时间，首次配置和系统等待单独记录，至少三批变化输入需结合独立正确答案验证。SDG 来源：United Nations, https://sdgs.un.org/goals/goal8。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PPT and updated deployment information from the project team.</a:t>
            </a:r>
            <a:br/>
            <a:br/>
            <a:r>
              <a:t>建议用时 30 秒。当前为云端演示原型。后续重点验证访问稳定性、多用户文件和运行记录隔离、实时模型失败处理，以及云端文件保存、删除和访问控制。演示继续使用合成数据。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supplied PPT and updated deployment information from the project team.</a:t>
            </a:r>
            <a:br/>
            <a:br/>
            <a:r>
              <a:t>建议用时 15 秒。以 Team Family Guy 的产品 Wheat 结束演示。强调人工确认、流程复用和处理依据可追溯。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d4c3c7b1ec496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c9728e6ca5492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a8743314f4d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808c5420144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d422e5a7e443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03761de9642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DD2E56E-1179-4F2D-9998-E22F7C93C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33922E-AA79-45D8-A6F4-EA6BD5B396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AD87AB4-4EAD-42B1-A77E-F405672FA1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0794D6-967E-48AC-B9E9-9542AC6A0D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F0069C-B067-4F07-B207-3FCA14A84B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C7A04F-7729-4A92-9801-82DC3393FC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D9E131-5616-4A61-BFD7-C97AEF30FD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588650-1D05-47A8-BC30-8D0E9129DB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39D9E5-96E9-4FB0-B750-D78D1DDD89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D89E101-759C-41F1-B0A9-6A889EE883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23795a2a5d42a2" /><Relationship Type="http://schemas.openxmlformats.org/officeDocument/2006/relationships/slideLayout" Target="/ppt/slideLayouts/slideLayout1.xml" Id="R591ad551275a440b" /><Relationship Type="http://schemas.openxmlformats.org/officeDocument/2006/relationships/slideLayout" Target="/ppt/slideLayouts/slideLayout2.xml" Id="R5d29af7c1d8b48e6" /><Relationship Type="http://schemas.openxmlformats.org/officeDocument/2006/relationships/slideLayout" Target="/ppt/slideLayouts/slideLayout3.xml" Id="R39063a5ef96d473e" /><Relationship Type="http://schemas.openxmlformats.org/officeDocument/2006/relationships/slideLayout" Target="/ppt/slideLayouts/slideLayout4.xml" Id="Ref992cc8663f4742" /><Relationship Type="http://schemas.openxmlformats.org/officeDocument/2006/relationships/slideLayout" Target="/ppt/slideLayouts/slideLayout5.xml" Id="R517c40ea31a84ff2" /><Relationship Type="http://schemas.openxmlformats.org/officeDocument/2006/relationships/slideLayout" Target="/ppt/slideLayouts/slideLayout6.xml" Id="R8de6f28d6a074e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1ad551275a440b"/>
    <p:sldLayoutId xmlns:r="http://schemas.openxmlformats.org/officeDocument/2006/relationships" id="2147483650" r:id="R5d29af7c1d8b48e6"/>
    <p:sldLayoutId xmlns:r="http://schemas.openxmlformats.org/officeDocument/2006/relationships" id="2147483651" r:id="R39063a5ef96d473e"/>
    <p:sldLayoutId xmlns:r="http://schemas.openxmlformats.org/officeDocument/2006/relationships" id="2147483652" r:id="Ref992cc8663f4742"/>
    <p:sldLayoutId xmlns:r="http://schemas.openxmlformats.org/officeDocument/2006/relationships" id="2147483653" r:id="R517c40ea31a84ff2"/>
    <p:sldLayoutId xmlns:r="http://schemas.openxmlformats.org/officeDocument/2006/relationships" id="2147483654" r:id="R8de6f28d6a074e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6dd35b47d46c7" /><Relationship Type="http://schemas.openxmlformats.org/officeDocument/2006/relationships/notesSlide" Target="/ppt/notesSlides/notesSlide1.xml" Id="Red275759066a43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f7fdf777414313" /><Relationship Type="http://schemas.openxmlformats.org/officeDocument/2006/relationships/notesSlide" Target="/ppt/notesSlides/notesSlide2.xml" Id="R5cad9a5ded6842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c5d9cc70ab4936" /><Relationship Type="http://schemas.openxmlformats.org/officeDocument/2006/relationships/notesSlide" Target="/ppt/notesSlides/notesSlide3.xml" Id="R5e528ac58f4847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c0f029d854ac7" /><Relationship Type="http://schemas.openxmlformats.org/officeDocument/2006/relationships/notesSlide" Target="/ppt/notesSlides/notesSlide4.xml" Id="R8b56c0129a5d41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3aec24bf14bc5" /><Relationship Type="http://schemas.openxmlformats.org/officeDocument/2006/relationships/notesSlide" Target="/ppt/notesSlides/notesSlide5.xml" Id="R3bd54aed293d43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f6bc407bdb4010" /><Relationship Type="http://schemas.openxmlformats.org/officeDocument/2006/relationships/notesSlide" Target="/ppt/notesSlides/notesSlide6.xml" Id="R85ea4f4b05a44d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adce577c748da" /><Relationship Type="http://schemas.openxmlformats.org/officeDocument/2006/relationships/notesSlide" Target="/ppt/notesSlides/notesSlide7.xml" Id="Ra669c424285b46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65a5ec87c84aae" /><Relationship Type="http://schemas.openxmlformats.org/officeDocument/2006/relationships/notesSlide" Target="/ppt/notesSlides/notesSlide8.xml" Id="R7d966c54bd1a44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1dca92b41f4c33" /><Relationship Type="http://schemas.openxmlformats.org/officeDocument/2006/relationships/notesSlide" Target="/ppt/notesSlides/notesSlide9.xml" Id="Rbad7496ad5634d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b352b3c1c841d0" /><Relationship Type="http://schemas.openxmlformats.org/officeDocument/2006/relationships/notesSlide" Target="/ppt/notesSlides/notesSlide10.xml" Id="R9e42736a0d1845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32c29ee074968" /><Relationship Type="http://schemas.openxmlformats.org/officeDocument/2006/relationships/notesSlide" Target="/ppt/notesSlides/notesSlide11.xml" Id="Rb51f5429058046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257bf303e44ea1" /><Relationship Type="http://schemas.openxmlformats.org/officeDocument/2006/relationships/notesSlide" Target="/ppt/notesSlides/notesSlide12.xml" Id="Ra946989a508148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1F610-AC16-4DA7-84A5-D1A72541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Wheat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74718-E63B-4817-A3F3-12EEDD87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AI-assisted order workflows for small businesses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B0636-FCC7-470D-BD26-E407A8EE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4998C-D66B-4906-A7E1-C72FAC50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85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Weekly orders.</a:t>
            </a:r>
          </a:p>
          <a:p xmlns:a="http://schemas.openxmlformats.org/drawingml/2006/main">
            <a:pPr>
              <a:buNone/>
              <a:def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A workflow you can reuse.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26D22-2510-4DB7-87A3-CB7E4C31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Team Family Guy</a:t>
            </a:r>
          </a:p>
        </p:txBody>
      </p:sp>
    </p:spTree>
    <p:extLst>
      <p:ext uri="{BB962C8B-B14F-4D97-AF65-F5344CB8AC3E}">
        <p14:creationId xmlns:p14="http://schemas.microsoft.com/office/powerpoint/2010/main" val="15537385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ADFEA4-AD4E-4A49-B4BA-ECC78CC6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The weekly order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10F13-5FDE-4EC3-A542-370119D35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Small wholesalers receive spreadsheets with different formats.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79CA9-2E99-49D8-B1FC-B4917E3F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02316-6E70-4A78-B72E-51433F2FA4B5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611505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What changes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What employees must do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Column names and order statuses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Find the orders that need processing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Product names and pack sizes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Match products and convert quantities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Duplicates and missing information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Check exceptions before warehouse handover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1A954B-4E92-4795-ABB1-849B346D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rPr>
              <a:t>Repeated work creates opportunities for mistakes and rework.</a:t>
            </a:r>
          </a:p>
        </p:txBody>
      </p:sp>
    </p:spTree>
    <p:extLst>
      <p:ext uri="{BB962C8B-B14F-4D97-AF65-F5344CB8AC3E}">
        <p14:creationId xmlns:p14="http://schemas.microsoft.com/office/powerpoint/2010/main" val="21263833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B0AB2-A1DD-4D00-98C0-7DF3A92D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One confirmed workflow, reused each week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7C7EC-45A0-47F8-BCC2-224FC0CC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Employees keep control of business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C293F-0B96-4DE7-A421-1DFB3500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0A569-6618-4B86-9D56-60009FFB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rPr>
              <a:t>First batch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165C8-9512-4738-9327-AE874E79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048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Upload orders and reference files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Review the proposed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Approve, run and save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83DB0-2739-471E-90FD-5A2A9F0D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rPr>
              <a:t>Later batches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94E5D-E1ED-445D-A5C0-8C9694C7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86125"/>
            <a:ext cx="5048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Load the saved workflow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Review changes and exceptions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Run again and check the result</a:t>
            </a:r>
          </a:p>
        </p:txBody>
      </p:sp>
    </p:spTree>
    <p:extLst>
      <p:ext uri="{BB962C8B-B14F-4D97-AF65-F5344CB8AC3E}">
        <p14:creationId xmlns:p14="http://schemas.microsoft.com/office/powerpoint/2010/main" val="2998152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1CADD-2570-43E8-9393-7F2EEF2E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AI proposes. People approve. Programs calculate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2AB2DF-A562-405F-997C-C7CA0962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The current prototype uses optional AI planning.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15046-E785-43EC-964B-A68C3FDD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1C260-3ED8-4D1A-A3CD-A3EE91124580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Responsibility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How it works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Agnes API: agnes-2.5-flash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Suggests mappings and a constrained JSON workflow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Validation and employee review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Checks the plan and confirms business rules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Bundled Python operations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Execute the approved transformations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Deterministic setup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Allows editable configuration without API credentials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52719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4A0F0-8BB7-4F88-8064-B1E7369D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Demo 1: build the first weekly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F9420-9517-4828-853A-68631A32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Orders from several channels, a product master and an output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837D6B-4C68-4AC8-9C72-A837EFDC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5B0EED-B613-432F-9F28-C0189DDEE615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Review point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Employee decision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Column mapping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Confirm which field contains the ordered quantity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Product alias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Confirm the intended product and specification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Quantity conversion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Use the conversion recorded in the product master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Approval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Approve the input and rule snapshot before execution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F1C7D-7253-480D-B4BA-FD1B49E11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Demonstration uses team-created synthetic data.</a:t>
            </a:r>
          </a:p>
        </p:txBody>
      </p:sp>
    </p:spTree>
    <p:extLst>
      <p:ext uri="{BB962C8B-B14F-4D97-AF65-F5344CB8AC3E}">
        <p14:creationId xmlns:p14="http://schemas.microsoft.com/office/powerpoint/2010/main" val="1875576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B5F8C1-EC3D-4E2A-89D6-F90131F6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Demo 2: review a new status before reuse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5E189-EDF5-4674-ADB8-7A6F9520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Example: a later batch introduces “partially shipped”.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6DE205-152D-4565-8D1E-9EBC180C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208FE-38D8-4A9F-9B26-0BA9D7CF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1085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An unfamiliar status</a:t>
            </a:r>
          </a:p>
          <a:p xmlns:a="http://schemas.openxmlformats.org/drawingml/2006/main">
            <a:pPr>
              <a:buNone/>
              <a:def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42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needs an explicit rule.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B7644-83A0-4FB6-ADE9-E4EA8F1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D7B66A"/>
                </a:solidFill>
                <a:latin typeface="Noto Sans SC"/>
                <a:ea typeface="Noto Sans SC"/>
                <a:cs typeface="Noto Sans SC"/>
              </a:rPr>
              <a:t>Identify affected rows, review the rule, then rerun.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87301-A2C3-4560-BEA4-F94F2EDB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Missing evidence stays visible as an exception.</a:t>
            </a:r>
          </a:p>
        </p:txBody>
      </p:sp>
    </p:spTree>
    <p:extLst>
      <p:ext uri="{BB962C8B-B14F-4D97-AF65-F5344CB8AC3E}">
        <p14:creationId xmlns:p14="http://schemas.microsoft.com/office/powerpoint/2010/main" val="1679207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A88351-A20D-46D8-B784-E39D1CA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Results with a record of what happened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98442-06A0-45A3-9792-B0676D25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Export results with exceptions and processing records.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87891-9302-41CE-9875-95D08A20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FEB9B-A3B0-4C53-80E8-8EEA93DB7F7A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592455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Business result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Supporting evidence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Standardized order details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Original file and row provenance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Product totals and warehouse preparation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Conversion and processing records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Explicit exceptions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Items requiring review or missing information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Saved workflow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Approval snapshots and activity records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AD0CA-50DD-4CEC-B1DC-690DDD77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Orbyte task handover is simulated.</a:t>
            </a:r>
          </a:p>
        </p:txBody>
      </p:sp>
    </p:spTree>
    <p:extLst>
      <p:ext uri="{BB962C8B-B14F-4D97-AF65-F5344CB8AC3E}">
        <p14:creationId xmlns:p14="http://schemas.microsoft.com/office/powerpoint/2010/main" val="2077230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769FC-6BB1-48A8-84F4-E485CABA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Application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0B2362-7BE3-4FFF-86DE-B6049D4E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The prototype is deployed on Replit and accessed through a web browser.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AAD48C-6609-4256-A0CC-1000316E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96428-1A5F-4F5F-8CFD-C882E82B7D7E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Layer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Implementation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Browser interface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React / TypeScript, built with Vite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Backend on Replit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FastAPI / Pydantic / limited Python process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Application storage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PostgreSQL (cloud); SQLite (local), via SQLAlchemy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External AI connection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Bounded profiles and samples sent to Agnes API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D18D7-5211-4D8D-84C7-86FC36ED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1">
                <a:solidFill>
                  <a:srgbClr val="AE8434"/>
                </a:solidFill>
                <a:latin typeface="Noto Sans SC"/>
                <a:ea typeface="Noto Sans SC"/>
                <a:cs typeface="Noto Sans SC"/>
              </a:rPr>
              <a:t>Live prototype: https://wheat-assistant.replit.app</a:t>
            </a:r>
          </a:p>
        </p:txBody>
      </p:sp>
    </p:spTree>
    <p:extLst>
      <p:ext uri="{BB962C8B-B14F-4D97-AF65-F5344CB8AC3E}">
        <p14:creationId xmlns:p14="http://schemas.microsoft.com/office/powerpoint/2010/main" val="1917801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6AB592-ABC5-46B1-8860-C62FAE7A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Replit support and responsible development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9CB488-CE8F-4F39-B89E-A27483BB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Sponsor contribution and AI-assisted work are declared.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8E1AB5-BC2D-4B99-B9D8-0574BBE7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DF509-1AC6-4000-AEED-DBE4DFA6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rPr>
              <a:t>Replit contribution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EF659-30E3-42BE-9DA8-CDC73E16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048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Cloud deployment of the prototype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Status Guard development and 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Part of testing and data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08002-8F28-42C1-B189-237EACE8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pPr>
            <a:r>
              <a:rPr sz="25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rPr>
              <a:t>Review and safeguards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D024B-07C1-475E-8F65-98E84AF7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86125"/>
            <a:ext cx="5048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Codex, DeepSeek Harness and</a:t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Replit Agent declared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Synthetic expected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Validation before execution</a:t>
            </a:r>
          </a:p>
        </p:txBody>
      </p:sp>
    </p:spTree>
    <p:extLst>
      <p:ext uri="{BB962C8B-B14F-4D97-AF65-F5344CB8AC3E}">
        <p14:creationId xmlns:p14="http://schemas.microsoft.com/office/powerpoint/2010/main" val="175455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BADEB-E683-45F6-A93A-F618C3F9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SDG 8.2: productivity through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793B7-E413-40C3-9E8D-8D0B0285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Impact target, not a measured efficiency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14E90-BBB3-4612-9345-47142C3B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55D2D-0C1A-4F2B-88BC-B8162EE1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4572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defRPr>
            </a:pPr>
            <a:r>
              <a:rPr sz="8250" b="1">
                <a:solidFill>
                  <a:srgbClr val="AE8434"/>
                </a:solidFill>
                <a:latin typeface="Noto Sans SC"/>
                <a:ea typeface="Noto Sans SC"/>
                <a:cs typeface="Noto Sans SC"/>
              </a:rPr>
              <a:t>30%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9543C6-2976-4FFB-A3D1-DF682D5E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334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target reduction in active employee time</a:t>
            </a:r>
          </a:p>
          <a:p xmlns:a="http://schemas.openxmlformats.org/drawingml/2006/main">
            <a:pPr>
              <a:buNone/>
              <a:def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for repeat batches after initial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606CF-91E2-42FB-983C-44EB3CF5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4317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175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Illustrative planning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80565-E441-45DD-82F1-30C6593B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7075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150 records from 3 sources</a:t>
            </a:r>
          </a:p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30 min manually, target ≤ 21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0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Baseline and target need validation.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E8C681-252A-482B-AB3A-C051FC9E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Record setup and system waiting time separately. Check output correctness.</a:t>
            </a:r>
          </a:p>
        </p:txBody>
      </p:sp>
    </p:spTree>
    <p:extLst>
      <p:ext uri="{BB962C8B-B14F-4D97-AF65-F5344CB8AC3E}">
        <p14:creationId xmlns:p14="http://schemas.microsoft.com/office/powerpoint/2010/main" val="1548407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69CD9-DBE5-4CC9-AE17-E389AF3E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183D35"/>
                </a:solidFill>
                <a:latin typeface="Noto Sans SC"/>
                <a:ea typeface="Noto Sans SC"/>
                <a:cs typeface="Noto Sans SC"/>
              </a:rPr>
              <a:t>Current limitations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6C912-0D13-4EDE-89BF-7AD86745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Further verification supports wider use of the cloud prototype.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E26F2-A3A5-4426-9A42-B9663FA4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63736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257373-B949-4071-B699-2F732A5DD2B7}"/>
              </a:ext>
            </a:extLst>
          </p:cNvPr>
          <p:cNvGraphicFramePr/>
          <p:nvPr/>
        </p:nvGraphicFramePr>
        <p:xfrm>
          <a:off xmlns:a="http://schemas.openxmlformats.org/drawingml/2006/main" x="609600" y="22383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56388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Current boundary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Next verification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T w="9525">
                      <a:solidFill>
                        <a:srgbClr val="D9DED5"/>
                      </a:solidFill>
                      <a:prstDash val="solid"/>
                    </a:lnT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183D35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Cloud prototype for demonstration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Verify access and deployment stability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Multi-user isolation not yet verified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 separation of files and run records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Live-model reliability needs further testing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Test invalid plans and API failures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Uploaded files reach the cloud backend</a:t>
                      </a:r>
                    </a:p>
                  </a:txBody>
                  <a:tcPr marL="171450" marR="171450" marT="133350" marB="114300" anchor="ctr">
                    <a:lnL w="9525">
                      <a:solidFill>
                        <a:srgbClr val="D9DED5"/>
                      </a:solidFill>
                      <a:prstDash val="solid"/>
                    </a:lnL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3D35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Verify storage, deletion and access controls</a:t>
                      </a:r>
                    </a:p>
                  </a:txBody>
                  <a:tcPr marL="171450" marR="171450" marT="133350" marB="114300" anchor="ctr">
                    <a:lnR w="9525">
                      <a:solidFill>
                        <a:srgbClr val="D9DED5"/>
                      </a:solidFill>
                      <a:prstDash val="solid"/>
                    </a:lnR>
                    <a:lnB w="9525">
                      <a:solidFill>
                        <a:srgbClr val="D9DED5"/>
                      </a:solidFill>
                      <a:prstDash val="solid"/>
                    </a:lnB>
                    <a:solidFill>
                      <a:srgbClr val="ECEF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5791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83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49ED21-62BB-4AAA-9BFC-EA46738D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Wheat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5D041-1591-4C55-AA0F-052C41F9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Team Family Guy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F2268E-DE2F-4A5B-A044-DF5720F7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DFF1BE-4873-4788-8FBD-B7110ABF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53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Less repeated preparation.</a:t>
            </a:r>
          </a:p>
          <a:p xmlns:a="http://schemas.openxmlformats.org/drawingml/2006/main">
            <a:pPr>
              <a:buNone/>
              <a:def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defRPr>
            </a:pPr>
            <a:r>
              <a:rPr sz="4500" b="1">
                <a:solidFill>
                  <a:srgbClr val="F5F2E9"/>
                </a:solidFill>
                <a:latin typeface="Noto Sans SC"/>
                <a:ea typeface="Noto Sans SC"/>
                <a:cs typeface="Noto Sans SC"/>
              </a:rPr>
              <a:t>More visible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2A5CC9-D33A-41D8-8C71-B8EB0F577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defPPr>
            <a:lvl1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1pPr>
            <a:lvl2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2pPr>
            <a:lvl3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3pPr>
            <a:lvl4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4pPr>
            <a:lvl5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5pPr>
            <a:lvl6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6pPr>
            <a:lvl7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7pPr>
            <a:lvl8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8pPr>
            <a:lvl9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lvl9pPr>
          </a:lstStyle>
          <a:p xmlns:a="http://schemas.openxmlformats.org/drawingml/2006/main">
            <a: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Reusable workflows with human approval</a:t>
            </a:r>
          </a:p>
          <a:p xmlns:a="http://schemas.openxmlformats.org/drawingml/2006/main">
            <a:pPr>
              <a:buNone/>
              <a:def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0">
                <a:solidFill>
                  <a:srgbClr val="D7DFD6"/>
                </a:solidFill>
                <a:latin typeface="Noto Sans SC"/>
                <a:ea typeface="Noto Sans SC"/>
                <a:cs typeface="Noto Sans SC"/>
              </a:rPr>
              <a:t>and traceable order processing</a:t>
            </a:r>
          </a:p>
        </p:txBody>
      </p:sp>
    </p:spTree>
    <p:extLst>
      <p:ext uri="{BB962C8B-B14F-4D97-AF65-F5344CB8AC3E}">
        <p14:creationId xmlns:p14="http://schemas.microsoft.com/office/powerpoint/2010/main" val="16628244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2026-10-24T13:40:56.2560000Z</dcterms:created>
  <dcterms:modified xsi:type="dcterms:W3CDTF">2026-10-24T13:40:56.2560000Z</dcterms:modified>
</coreProperties>
</file>